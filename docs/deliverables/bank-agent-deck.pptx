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秒：银行想要大模型的理解力，却不敢给它动钱的权力。我们的答案是：模型只负责理解与编排，判级、限额、幂等、审计全部放在模型之外。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三条对比：传统 App 输在体验，裸接大模型输在安全，我们的答案是分级治理——把“能不能动钱”从模型嘴里拿走，交给代码。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这道图讲三层：接入层两个入口，推理层六个领域，下面是三道永远不会听自然语言话的代码边界。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任务图不是装饰：每个节点真实落库、真实可回放。我们也不吹并行——单进程串行，换来的是确定性。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这一页是全场核心：绿色放行、黄色确认、红色验证码。右边是真实跑过的升级路径——两笔各 200 与 900，第二笔被自动升红。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这页证明跨场景不是拼 PPT：一句话真的走完了识别、定价、预订、拨钟、扣款、留痕六步。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四类注入各有明确的拦截层，不是“模型很聪明所以不会上当”。右下角是大家最容易问的沙箱：我们做的是逻辑隔离，边界写在自评里。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审计三表各司其职：运行、业务、模型。对外只有查询接口，没有改和删——这是“可追溯”和“可篡改”的分界线。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数字只念两个：2100 多个后端测试，48 条全链路 E2E 用例零缺陷。右边主动说边界——评委更信敢划边的人。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20 秒：我们不承诺 AI 永远不说错话，我们承诺说错话也动不了钱。谢谢。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3A33C"/>
                </a:solidFill>
                <a:latin typeface="Microsoft YaHei"/>
              </a:rPr>
              <a:t>人工智能赛道 · 金融垂直智能体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8EEF8"/>
                </a:solidFill>
                <a:latin typeface="Microsoft YaHei"/>
              </a:rPr>
              <a:t>银行 AI 智能体底座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6CAEF5"/>
                </a:solidFill>
                <a:latin typeface="Microsoft YaHei"/>
              </a:rPr>
              <a:t>AI Banking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93A4BF"/>
                </a:solidFill>
                <a:latin typeface="Microsoft YaHei"/>
              </a:rPr>
              <a:t>对话即服务，安全在模型之外。
用户说人话，系统按代码走账。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069080"/>
            <a:ext cx="2788920" cy="420624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E3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E3A33C"/>
                </a:solidFill>
                <a:latin typeface="Microsoft YaHei"/>
              </a:rPr>
              <a:t>LangGraph 多智能体编排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9312" y="4069080"/>
            <a:ext cx="2606040" cy="420624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35D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35D0A0"/>
                </a:solidFill>
                <a:latin typeface="Microsoft YaHei"/>
              </a:rPr>
              <a:t>代码级绿 / 黄 / 红分级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90288"/>
            <a:ext cx="2788920" cy="420624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6CA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6CAEF5"/>
                </a:solidFill>
                <a:latin typeface="Microsoft YaHei"/>
              </a:rPr>
              <a:t>只追加审计 · 可回放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4590288"/>
            <a:ext cx="2606040" cy="420624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150" b="1">
                <a:solidFill>
                  <a:srgbClr val="F26D6D"/>
                </a:solidFill>
                <a:latin typeface="Microsoft YaHei"/>
              </a:rPr>
              <a:t>六个业务场景全覆盖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4BF"/>
                </a:solidFill>
                <a:latin typeface="Microsoft YaHei"/>
              </a:rPr>
              <a:t>FastAPI · LangGraph · PostgreSQL · Vue 3 · 飞书 IM</a:t>
            </a:r>
          </a:p>
        </p:txBody>
      </p:sp>
      <p:pic>
        <p:nvPicPr>
          <p:cNvPr id="11" name="Picture 10" descr="chat_set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34440"/>
            <a:ext cx="4572000" cy="24968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0" y="1188720"/>
            <a:ext cx="4663440" cy="2761488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404164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演示工作台：一句“给家人转账 100 元”→ 确认 → 银行交易号回执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45720" cy="237744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为什么需要我们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EF8"/>
                </a:solidFill>
                <a:latin typeface="Microsoft YaHei"/>
              </a:rPr>
              <a:t>智能化与金融安全，真的不可调和吗？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19088"/>
            <a:ext cx="10817352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银行 AI 智能体底座 · 答辩材料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49224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56432" cy="288036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276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8EEF8"/>
                </a:solidFill>
                <a:latin typeface="Microsoft YaHei"/>
              </a:rPr>
              <a:t>传统手机银行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933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26D6D"/>
                </a:solidFill>
                <a:latin typeface="Microsoft YaHei"/>
              </a:rPr>
              <a:t>长链路 · 重层级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2316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转账动辄三步以上、菜单深达四级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长辈与急迫场景体验最差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能力被菜单写死，不会“理解”一句话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跨场景要重走一遍菜单与登录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417320"/>
            <a:ext cx="3456432" cy="288036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276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8EEF8"/>
                </a:solidFill>
                <a:latin typeface="Microsoft YaHei"/>
              </a:rPr>
              <a:t>裸接通用大模型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幻觉 · 越权 · 不可逆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2316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编造金额、利率与收款人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一句提示注入就能绕过“口头风控”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资金写调用不可逆，出事无法追责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没有日累计账本，也没有强制二次确认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417320"/>
            <a:ext cx="3456432" cy="288036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5875">
            <a:solidFill>
              <a:srgbClr val="35D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7" y="162763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8EEF8"/>
                </a:solidFill>
                <a:latin typeface="Microsoft YaHei"/>
              </a:rPr>
              <a:t>我们的做法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19933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35D0A0"/>
                </a:solidFill>
                <a:latin typeface="Microsoft YaHei"/>
              </a:rPr>
              <a:t>对话即服务 + 分级治理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7" y="242316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低风险查询秒级放行，零打扰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中风险弹确认卡，明示日累计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高风险强制验证码，模型碰不到凭据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1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50">
                <a:solidFill>
                  <a:srgbClr val="E8EEF8"/>
                </a:solidFill>
                <a:latin typeface="Microsoft YaHei"/>
              </a:rPr>
              <a:t>判级、限额、幂等、审计都在模型外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46320"/>
            <a:ext cx="10817352" cy="86868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2700">
            <a:solidFill>
              <a:srgbClr val="E3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0176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8EEF8"/>
                </a:solidFill>
                <a:latin typeface="Microsoft YaHei"/>
              </a:rPr>
              <a:t>模型只做两件事：理解用户、编排任务。　判级、限额、幂等、审计——四件事全部在模型之外完成。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45720" cy="237744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系统全景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EF8"/>
                </a:solidFill>
                <a:latin typeface="Microsoft YaHei"/>
              </a:rPr>
              <a:t>大模型碰不到的三道代码防线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19088"/>
            <a:ext cx="10817352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银行 AI 智能体底座 · 答辩材料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49224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10817352" cy="658368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3A33C"/>
                </a:solidFill>
                <a:latin typeface="Microsoft YaHei"/>
              </a:rPr>
              <a:t>接入层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490472"/>
            <a:ext cx="8321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8"/>
                </a:solidFill>
                <a:latin typeface="Microsoft YaHei"/>
              </a:rPr>
              <a:t>Vue 3 工作台（SSE 流式 · 任务图 · 审计时间轴 · 时钟条）　|　飞书 IM 长连（绑定码准入 · 卡片原地刷新）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9320" y="2066543"/>
            <a:ext cx="201168" cy="237744"/>
          </a:xfrm>
          <a:prstGeom prst="downArrow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331720"/>
            <a:ext cx="10817352" cy="896112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26D6D"/>
                </a:solidFill>
                <a:latin typeface="Microsoft YaHei"/>
              </a:rPr>
              <a:t>不可信推理层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41448"/>
            <a:ext cx="8321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8EEF8"/>
                </a:solidFill>
                <a:latin typeface="Microsoft YaHei"/>
              </a:rPr>
              <a:t>FastAPI + AgentRuntime（per-session 锁、Postgres 检查点）→ Supervisor → 6 个领域 Agent：转账 / 账单 / 理财 / 卡片 / 订阅代扣 / 生活事件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9320" y="3255264"/>
            <a:ext cx="201168" cy="237744"/>
          </a:xfrm>
          <a:prstGeom prst="downArrow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3456432" cy="137160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5875">
            <a:solidFill>
              <a:srgbClr val="35D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393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5D0A0"/>
                </a:solidFill>
                <a:latin typeface="Microsoft YaHei"/>
              </a:rPr>
              <a:t>防线一 · 策略引擎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5020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绿 / 黄 / 红判级
1000 元日累计账本
MFA 状态机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3520440"/>
            <a:ext cx="3456432" cy="137160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5875">
            <a:solidFill>
              <a:srgbClr val="E3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6393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3A33C"/>
                </a:solidFill>
                <a:latin typeface="Microsoft YaHei"/>
              </a:rPr>
              <a:t>防线二 · 工具网关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95020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Handle 白名单
JSONSchema 严格校验
越权调用留痕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3520440"/>
            <a:ext cx="3456432" cy="137160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5875">
            <a:solidFill>
              <a:srgbClr val="6CA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363931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6CAEF5"/>
                </a:solidFill>
                <a:latin typeface="Microsoft YaHei"/>
              </a:rPr>
              <a:t>防线三 · 审计与写路径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95020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三张只追加表
WriteFacade 唯一幂等键
完整入参出参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89320" y="4937760"/>
            <a:ext cx="201168" cy="219456"/>
          </a:xfrm>
          <a:prstGeom prst="downArrow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5193792"/>
            <a:ext cx="10817352" cy="64008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0352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8"/>
                </a:solidFill>
                <a:latin typeface="Microsoft YaHei"/>
              </a:rPr>
              <a:t>银行核心 bank_backend（独立服务，67 个接口路径，服务令牌鉴权）——本级不信任任何来自 Agent 的自然语言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2531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3A33C"/>
                </a:solidFill>
                <a:latin typeface="Microsoft YaHei"/>
              </a:rPr>
              <a:t>一句话：自然语言可以被诱导，代码不会。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45720" cy="237744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任务编排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EF8"/>
                </a:solidFill>
                <a:latin typeface="Microsoft YaHei"/>
              </a:rPr>
              <a:t>一句话拆成任务图：多域协同与可回放状态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19088"/>
            <a:ext cx="10817352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银行 AI 智能体底座 · 答辩材料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49224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93A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93A4BF"/>
                </a:solidFill>
                <a:latin typeface="Microsoft YaHei"/>
              </a:rPr>
              <a:t>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93A4BF"/>
                </a:solidFill>
                <a:latin typeface="Microsoft YaHei"/>
              </a:rPr>
              <a:t>已规划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07208" y="1627632"/>
            <a:ext cx="292608" cy="182880"/>
          </a:xfrm>
          <a:prstGeom prst="rightArrow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1481328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6CA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6CAEF5"/>
                </a:solidFill>
                <a:latin typeface="Microsoft YaHei"/>
              </a:rPr>
              <a:t>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9339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93A4BF"/>
                </a:solidFill>
                <a:latin typeface="Microsoft YaHei"/>
              </a:rPr>
              <a:t>执行中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21808" y="1627632"/>
            <a:ext cx="292608" cy="182880"/>
          </a:xfrm>
          <a:prstGeom prst="rightArrow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15000" y="1481328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E3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E3A33C"/>
                </a:solidFill>
                <a:latin typeface="Microsoft YaHei"/>
              </a:rPr>
              <a:t>interrupted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99339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93A4BF"/>
                </a:solidFill>
                <a:latin typeface="Microsoft YaHei"/>
              </a:rPr>
              <a:t>等待确认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6408" y="1627632"/>
            <a:ext cx="292608" cy="182880"/>
          </a:xfrm>
          <a:prstGeom prst="rightArrow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481328"/>
            <a:ext cx="2011680" cy="457200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35D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35D0A0"/>
                </a:solidFill>
                <a:latin typeface="Microsoft YaHei"/>
              </a:rPr>
              <a:t>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93392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93A4BF"/>
                </a:solidFill>
                <a:latin typeface="Microsoft YaHei"/>
              </a:rPr>
              <a:t>已完成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514600"/>
            <a:ext cx="5074920" cy="233172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7004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E3A33C"/>
                </a:solidFill>
                <a:latin typeface="Microsoft YaHei"/>
              </a:rPr>
              <a:t>实战：一句话触发两个领域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63240"/>
            <a:ext cx="46177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00">
                <a:solidFill>
                  <a:srgbClr val="E8EEF8"/>
                </a:solidFill>
                <a:latin typeface="Microsoft YaHei"/>
              </a:rPr>
              <a:t>“先看上月花在哪，再给爱人订一束花”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00">
                <a:solidFill>
                  <a:srgbClr val="E8EEF8"/>
                </a:solidFill>
                <a:latin typeface="Microsoft YaHei"/>
              </a:rPr>
              <a:t>Bill Agent 汇总分类消费 → Life Event Agent 查生日与商品库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00">
                <a:solidFill>
                  <a:srgbClr val="E8EEF8"/>
                </a:solidFill>
                <a:latin typeface="Microsoft YaHei"/>
              </a:rPr>
              <a:t>策略引擎按商品库价格判级 → 生成预订单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100">
                <a:solidFill>
                  <a:srgbClr val="E8EEF8"/>
                </a:solidFill>
                <a:latin typeface="Microsoft YaHei"/>
              </a:rPr>
              <a:t>前端任务图实时高亮，审计时间轴逐节点可回放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2514600"/>
            <a:ext cx="5513832" cy="233172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67004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35D0A0"/>
                </a:solidFill>
                <a:latin typeface="Microsoft YaHei"/>
              </a:rPr>
              <a:t>工程上做对了什么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63240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35D0A0"/>
                </a:solidFill>
                <a:latin typeface="Microsoft YaHei"/>
              </a:rPr>
              <a:t>▪  </a:t>
            </a:r>
            <a:r>
              <a:rPr sz="1100">
                <a:solidFill>
                  <a:srgbClr val="E8EEF8"/>
                </a:solidFill>
                <a:latin typeface="Microsoft YaHei"/>
              </a:rPr>
              <a:t>原生 tool calling，不走 JSON 文本协议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35D0A0"/>
                </a:solidFill>
                <a:latin typeface="Microsoft YaHei"/>
              </a:rPr>
              <a:t>▪  </a:t>
            </a:r>
            <a:r>
              <a:rPr sz="1100">
                <a:solidFill>
                  <a:srgbClr val="E8EEF8"/>
                </a:solidFill>
                <a:latin typeface="Microsoft YaHei"/>
              </a:rPr>
              <a:t>节点状态机落库，断线重连可续看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35D0A0"/>
                </a:solidFill>
                <a:latin typeface="Microsoft YaHei"/>
              </a:rPr>
              <a:t>▪  </a:t>
            </a:r>
            <a:r>
              <a:rPr sz="1100">
                <a:solidFill>
                  <a:srgbClr val="E8EEF8"/>
                </a:solidFill>
                <a:latin typeface="Microsoft YaHei"/>
              </a:rPr>
              <a:t>每个节点绑定调用者身份，越权直接拒绝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35D0A0"/>
                </a:solidFill>
                <a:latin typeface="Microsoft YaHei"/>
              </a:rPr>
              <a:t>▪  </a:t>
            </a:r>
            <a:r>
              <a:rPr sz="1100">
                <a:solidFill>
                  <a:srgbClr val="E8EEF8"/>
                </a:solidFill>
                <a:latin typeface="Microsoft YaHei"/>
              </a:rPr>
              <a:t>同一会话串行推进，失败可回退到历史检查点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74920"/>
            <a:ext cx="10817352" cy="86868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9379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3A4BF"/>
                </a:solidFill>
                <a:latin typeface="Microsoft YaHei"/>
              </a:rPr>
              <a:t>诚实边界：任务图按依赖串行执行，单 worker + 进程内排他锁；它的价值是“可解释、可中断、可回放”，而不是伪装成并行调度。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45720" cy="237744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风控核心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EF8"/>
                </a:solidFill>
                <a:latin typeface="Microsoft YaHei"/>
              </a:rPr>
              <a:t>绿 / 黄 / 红：把“能不能动钱”写成代码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19088"/>
            <a:ext cx="10817352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银行 AI 智能体底座 · 答辩材料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49224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6675120" cy="91440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664208"/>
            <a:ext cx="566928" cy="512064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35D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35D0A0"/>
                </a:solidFill>
                <a:latin typeface="Microsoft YaHei"/>
              </a:rPr>
              <a:t>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27632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8EEF8"/>
                </a:solidFill>
                <a:latin typeface="Microsoft YaHei"/>
              </a:rPr>
              <a:t>只读查询：余额、明细、联系人、产品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2763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直接放行，秒级返回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14600"/>
            <a:ext cx="6675120" cy="91440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715768"/>
            <a:ext cx="566928" cy="512064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E3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E3A33C"/>
                </a:solidFill>
                <a:latin typeface="Microsoft YaHei"/>
              </a:rPr>
              <a:t>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79192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8EEF8"/>
                </a:solidFill>
                <a:latin typeface="Microsoft YaHei"/>
              </a:rPr>
              <a:t>小额转账（≤ 1000 元）、虚拟卡申请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67919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弹确认卡，明示金额与日累计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6675120" cy="91440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767328"/>
            <a:ext cx="566928" cy="512064"/>
          </a:xfrm>
          <a:prstGeom prst="roundRect">
            <a:avLst>
              <a:gd name="adj" fmla="val 18000"/>
            </a:avLst>
          </a:prstGeom>
          <a:solidFill>
            <a:srgbClr val="0F1A2B"/>
          </a:solidFill>
          <a:ln w="12700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500" b="1">
                <a:solidFill>
                  <a:srgbClr val="F26D6D"/>
                </a:solidFill>
                <a:latin typeface="Microsoft YaHei"/>
              </a:rPr>
              <a:t>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30752"/>
            <a:ext cx="3246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8EEF8"/>
                </a:solidFill>
                <a:latin typeface="Microsoft YaHei"/>
              </a:rPr>
              <a:t>理财申购、挂失、单笔或日累计 &gt; 1000 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30752"/>
            <a:ext cx="2331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强制验证码 MFA，凭据不进模型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463040"/>
            <a:ext cx="3867912" cy="306324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2700">
            <a:solidFill>
              <a:srgbClr val="E3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600200"/>
            <a:ext cx="3474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3A33C"/>
                </a:solidFill>
                <a:latin typeface="Microsoft YaHei"/>
              </a:rPr>
              <a:t>日累计动态升级（实测）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965960"/>
            <a:ext cx="34290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50" b="1">
                <a:solidFill>
                  <a:srgbClr val="E8EEF8"/>
                </a:solidFill>
                <a:latin typeface="Microsoft YaHei"/>
              </a:rPr>
              <a:t>09:12　</a:t>
            </a:r>
            <a:r>
              <a:rPr sz="1050">
                <a:solidFill>
                  <a:srgbClr val="93A4BF"/>
                </a:solidFill>
                <a:latin typeface="Microsoft YaHei"/>
              </a:rPr>
              <a:t>转 200 元 → 黄卡放行，累计 200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50" b="1">
                <a:solidFill>
                  <a:srgbClr val="E8EEF8"/>
                </a:solidFill>
                <a:latin typeface="Microsoft YaHei"/>
              </a:rPr>
              <a:t>09:15　</a:t>
            </a:r>
            <a:r>
              <a:rPr sz="1050">
                <a:solidFill>
                  <a:srgbClr val="93A4BF"/>
                </a:solidFill>
                <a:latin typeface="Microsoft YaHei"/>
              </a:rPr>
              <a:t>再转 900 元 → 累计 1100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50" b="1">
                <a:solidFill>
                  <a:srgbClr val="E8EEF8"/>
                </a:solidFill>
                <a:latin typeface="Microsoft YaHei"/>
              </a:rPr>
              <a:t>同一秒　</a:t>
            </a:r>
            <a:r>
              <a:rPr sz="1050">
                <a:solidFill>
                  <a:srgbClr val="93A4BF"/>
                </a:solidFill>
                <a:latin typeface="Microsoft YaHei"/>
              </a:rPr>
              <a:t>越过 1000 元阈值，自动升红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0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50" b="1">
                <a:solidFill>
                  <a:srgbClr val="E8EEF8"/>
                </a:solidFill>
                <a:latin typeface="Microsoft YaHei"/>
              </a:rPr>
              <a:t>结果　</a:t>
            </a:r>
            <a:r>
              <a:rPr sz="1050">
                <a:solidFill>
                  <a:srgbClr val="93A4BF"/>
                </a:solidFill>
                <a:latin typeface="Microsoft YaHei"/>
              </a:rPr>
              <a:t>要求验证码，未通过不出账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74920"/>
            <a:ext cx="10817352" cy="86868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75504"/>
            <a:ext cx="10332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3A4BF"/>
                </a:solidFill>
                <a:latin typeface="Microsoft YaHei"/>
              </a:rPr>
              <a:t>阈值只有一个来源：策略引擎常量 + 日累计账本（数据库行锁）。模型改不了、提示词诱导不了、换个说法也没用。
验证码只进银行校验通道：不进模型上下文、不进检查点、不进审计明文。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45720" cy="237744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跨场景联动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EF8"/>
                </a:solidFill>
                <a:latin typeface="Microsoft YaHei"/>
              </a:rPr>
              <a:t>生日鲜花：从一句话到银行划扣的六个动作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19088"/>
            <a:ext cx="10817352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银行 AI 智能体底座 · 答辩材料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49224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56432" cy="1627632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3A33C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002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EEF8"/>
                </a:solidFill>
                <a:latin typeface="Microsoft YaHei"/>
              </a:rPr>
              <a:t>识别实体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568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“爱人”“11 月 10 日”“300 元以内”
从对话里抽取并落到结构化槽位
缺槽位就追问，不拿默认值硬猜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417320"/>
            <a:ext cx="3456432" cy="1627632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5636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3A33C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6002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EEF8"/>
                </a:solidFill>
                <a:latin typeface="Microsoft YaHei"/>
              </a:rPr>
              <a:t>权威定价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07568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商品价格只读银行商品库
模型输出改不了价格
价格与库存都只信银行商品库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417320"/>
            <a:ext cx="3456432" cy="1627632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5636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3A33C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5" y="16002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EEF8"/>
                </a:solidFill>
                <a:latin typeface="Microsoft YaHei"/>
              </a:rPr>
              <a:t>预订单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07568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生成 pending 订单并冻结待执行
此时还没扣款
下单与扣款分成两步走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64408"/>
            <a:ext cx="3456432" cy="1627632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107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3A33C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4728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EEF8"/>
                </a:solidFill>
                <a:latin typeface="Microsoft YaHei"/>
              </a:rPr>
              <a:t>拨钟推进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22776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演示时钟拨到生日前 2 天
批处理扫描到期订单
只扫到期且未扣款的单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264408"/>
            <a:ext cx="3456432" cy="1627632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4107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3A33C"/>
                </a:solidFill>
                <a:latin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44728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EEF8"/>
                </a:solidFill>
                <a:latin typeface="Microsoft YaHei"/>
              </a:rPr>
              <a:t>真实划扣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22776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银行批处理完成扣款
借记流水落库
回执带真实银行流水号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5" y="3264408"/>
            <a:ext cx="3456432" cy="1627632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34107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3A33C"/>
                </a:solidFill>
                <a:latin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344728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8EEF8"/>
                </a:solidFill>
                <a:latin typeface="Microsoft YaHei"/>
              </a:rPr>
              <a:t>全链留痕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5" y="3922776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订单号、流水号、判定原因
全部进只追加审计
任一环节失败也留拒绝原因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57800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E3A33C"/>
                </a:solidFill>
                <a:latin typeface="Microsoft YaHei"/>
              </a:rPr>
              <a:t>这条链路把四个领域串起来：生活事件（识别与方案）→ 策略引擎（判级）→ 工具网关（定价校验）→ 银行核心（扣款与流水）。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23560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两跳已固化：账单预算 → 生日落单有定向验收脚本，生产 Supervisor 与生活事件子图真实串联。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45720" cy="237744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安全护城河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EF8"/>
                </a:solidFill>
                <a:latin typeface="Microsoft YaHei"/>
              </a:rPr>
              <a:t>对抗注入与异常熔断：攻击进来，资金不出门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19088"/>
            <a:ext cx="10817352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银行 AI 智能体底座 · 答辩材料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49224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07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3A33C"/>
                </a:solidFill>
                <a:latin typeface="Microsoft YaHei"/>
              </a:rPr>
              <a:t>五类攻击的拦截位置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6309360" cy="658368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65376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8EEF8"/>
                </a:solidFill>
                <a:latin typeface="Microsoft YaHei"/>
              </a:rPr>
              <a:t>越权大额转账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6537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策略引擎判红 + 确认卡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86537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5D0A0"/>
                </a:solidFill>
                <a:latin typeface="Microsoft YaHei"/>
              </a:rPr>
              <a:t>资金 0 出账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68880"/>
            <a:ext cx="6309360" cy="658368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42616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8EEF8"/>
                </a:solidFill>
                <a:latin typeface="Microsoft YaHei"/>
              </a:rPr>
              <a:t>自称管理员跳过验证码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4261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路由层 422 直接拒绝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64261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5D0A0"/>
                </a:solidFill>
                <a:latin typeface="Microsoft YaHei"/>
              </a:rPr>
              <a:t>模型无权越权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6309360" cy="658368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19856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8EEF8"/>
                </a:solidFill>
                <a:latin typeface="Microsoft YaHei"/>
              </a:rPr>
              <a:t>伪造工具名改限额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41985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网关 Handle 白名单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41985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5D0A0"/>
                </a:solidFill>
                <a:latin typeface="Microsoft YaHei"/>
              </a:rPr>
              <a:t>TOOL_DENIED 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23360"/>
            <a:ext cx="6309360" cy="658368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97096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8EEF8"/>
                </a:solidFill>
                <a:latin typeface="Microsoft YaHei"/>
              </a:rPr>
              <a:t>注入参数改价格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19709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Schema additionalProperties=false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19709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5D0A0"/>
                </a:solidFill>
                <a:latin typeface="Microsoft YaHei"/>
              </a:rPr>
              <a:t>参数校验拒绝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00600"/>
            <a:ext cx="6309360" cy="658368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74336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8EEF8"/>
                </a:solidFill>
                <a:latin typeface="Microsoft YaHei"/>
              </a:rPr>
              <a:t>越权查他人流水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974336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按会话身份过滤，不认传入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4974336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35D0A0"/>
                </a:solidFill>
                <a:latin typeface="Microsoft YaHei"/>
              </a:rPr>
              <a:t>一律 404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1371600"/>
            <a:ext cx="4233672" cy="178308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2700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1490472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26D6D"/>
                </a:solidFill>
                <a:latin typeface="Microsoft YaHei"/>
              </a:rPr>
              <a:t>异常熔断（银行 1009）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1828800"/>
            <a:ext cx="38404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F26D6D"/>
                </a:solidFill>
                <a:latin typeface="Microsoft YaHei"/>
              </a:rPr>
              <a:t>▪  </a:t>
            </a:r>
            <a:r>
              <a:rPr sz="1000">
                <a:solidFill>
                  <a:srgbClr val="E8EEF8"/>
                </a:solidFill>
                <a:latin typeface="Microsoft YaHei"/>
              </a:rPr>
              <a:t>连续 5 次验证失败 → 锁定 15 分钟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F26D6D"/>
                </a:solidFill>
                <a:latin typeface="Microsoft YaHei"/>
              </a:rPr>
              <a:t>▪  </a:t>
            </a:r>
            <a:r>
              <a:rPr sz="1000">
                <a:solidFill>
                  <a:srgbClr val="E8EEF8"/>
                </a:solidFill>
                <a:latin typeface="Microsoft YaHei"/>
              </a:rPr>
              <a:t>前端红色 LockBanner，一键解锁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F26D6D"/>
                </a:solidFill>
                <a:latin typeface="Microsoft YaHei"/>
              </a:rPr>
              <a:t>▪  </a:t>
            </a:r>
            <a:r>
              <a:rPr sz="1000">
                <a:solidFill>
                  <a:srgbClr val="E8EEF8"/>
                </a:solidFill>
                <a:latin typeface="Microsoft YaHei"/>
              </a:rPr>
              <a:t>锁定期间资金写全拒，查询不受影响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3310128"/>
            <a:ext cx="4233672" cy="2084831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2700">
            <a:solidFill>
              <a:srgbClr val="E3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3429000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3A33C"/>
                </a:solidFill>
                <a:latin typeface="Microsoft YaHei"/>
              </a:rPr>
              <a:t>执行沙箱（不是口号）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3767328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00">
                <a:solidFill>
                  <a:srgbClr val="E8EEF8"/>
                </a:solidFill>
                <a:latin typeface="Microsoft YaHei"/>
              </a:rPr>
              <a:t>工具网关：白名单 + Schema，拒绝即留痕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00">
                <a:solidFill>
                  <a:srgbClr val="E8EEF8"/>
                </a:solidFill>
                <a:latin typeface="Microsoft YaHei"/>
              </a:rPr>
              <a:t>文件解析：临时目录 + 路径穿越防护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00">
                <a:solidFill>
                  <a:srgbClr val="E8EEF8"/>
                </a:solidFill>
                <a:latin typeface="Microsoft YaHei"/>
              </a:rPr>
              <a:t>解压限额：单件 50MB / 总量 200MB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00">
                <a:solidFill>
                  <a:srgbClr val="E8EEF8"/>
                </a:solidFill>
                <a:latin typeface="Microsoft YaHei"/>
              </a:rPr>
              <a:t>退出即清除；非 OS 级隔离，已在自评声明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45720" cy="237744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EF8"/>
                </a:solidFill>
                <a:latin typeface="Microsoft YaHei"/>
              </a:rPr>
              <a:t>司法级回溯：三张只追加表，一条时间轴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19088"/>
            <a:ext cx="10817352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银行 AI 智能体底座 · 答辩材料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49224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989320" cy="1024128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4864" cy="1024128"/>
          </a:xfrm>
          <a:prstGeom prst="rect">
            <a:avLst/>
          </a:prstGeom>
          <a:solidFill>
            <a:srgbClr val="6CA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453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6CAEF5"/>
                </a:solidFill>
                <a:latin typeface="Microsoft YaHei"/>
              </a:rPr>
              <a:t>agent_run_event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5453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3A4BF"/>
                </a:solidFill>
                <a:latin typeface="Microsoft YaHei"/>
              </a:rPr>
              <a:t>运行事件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928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8EEF8"/>
                </a:solidFill>
                <a:latin typeface="Microsoft YaHei"/>
              </a:rPr>
              <a:t>每个节点、每次工具调用的完整入参出参与私有 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87752"/>
            <a:ext cx="5989320" cy="1024128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587752"/>
            <a:ext cx="54864" cy="1024128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157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3A33C"/>
                </a:solidFill>
                <a:latin typeface="Microsoft YaHei"/>
              </a:rPr>
              <a:t>business_audit_event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157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3A4BF"/>
                </a:solidFill>
                <a:latin typeface="Microsoft YaHei"/>
              </a:rPr>
              <a:t>业务与配置变更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8EEF8"/>
                </a:solidFill>
                <a:latin typeface="Microsoft YaHei"/>
              </a:rPr>
              <a:t>动账要素、风险等级、判定原因、真实流水号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58184"/>
            <a:ext cx="5989320" cy="1024128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58184"/>
            <a:ext cx="54864" cy="1024128"/>
          </a:xfrm>
          <a:prstGeom prst="rect">
            <a:avLst/>
          </a:prstGeom>
          <a:solidFill>
            <a:srgbClr val="35D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35D0A0"/>
                </a:solidFill>
                <a:latin typeface="Microsoft YaHei"/>
              </a:rPr>
              <a:t>llm_call_audit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886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3A4BF"/>
                </a:solidFill>
                <a:latin typeface="Microsoft YaHei"/>
              </a:rPr>
              <a:t>模型调用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3367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8EEF8"/>
                </a:solidFill>
                <a:latin typeface="Microsoft YaHei"/>
              </a:rPr>
              <a:t>每次尝试的 Prompt、返回、token 与时延，call_id 唯一</a:t>
            </a:r>
          </a:p>
        </p:txBody>
      </p:sp>
      <p:pic>
        <p:nvPicPr>
          <p:cNvPr id="23" name="Picture 22" descr="chat_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417320"/>
            <a:ext cx="4434840" cy="116051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040880" y="1371600"/>
            <a:ext cx="4526280" cy="1389888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288036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回执里的交易号可反查到：哪轮对话、哪个节点、哪次工具调用、哪张卡、哪条银行流水。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3520440"/>
            <a:ext cx="4434840" cy="1874519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12700">
            <a:solidFill>
              <a:srgbClr val="6CA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36393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6CAEF5"/>
                </a:solidFill>
                <a:latin typeface="Microsoft YaHei"/>
              </a:rPr>
              <a:t>只读查询端点（无 UPDATE / DELETE）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3977639"/>
            <a:ext cx="4069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>
                <a:solidFill>
                  <a:srgbClr val="6CAEF5"/>
                </a:solidFill>
                <a:latin typeface="Microsoft YaHei"/>
              </a:rPr>
              <a:t>›  </a:t>
            </a:r>
            <a:r>
              <a:rPr sz="1000">
                <a:solidFill>
                  <a:srgbClr val="E8EEF8"/>
                </a:solidFill>
                <a:latin typeface="Microsoft YaHei"/>
              </a:rPr>
              <a:t>/api/audit/run-events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>
                <a:solidFill>
                  <a:srgbClr val="6CAEF5"/>
                </a:solidFill>
                <a:latin typeface="Microsoft YaHei"/>
              </a:rPr>
              <a:t>›  </a:t>
            </a:r>
            <a:r>
              <a:rPr sz="1000">
                <a:solidFill>
                  <a:srgbClr val="E8EEF8"/>
                </a:solidFill>
                <a:latin typeface="Microsoft YaHei"/>
              </a:rPr>
              <a:t>/api/audit/llm-calls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000">
                <a:solidFill>
                  <a:srgbClr val="6CAEF5"/>
                </a:solidFill>
                <a:latin typeface="Microsoft YaHei"/>
              </a:rPr>
              <a:t>›  </a:t>
            </a:r>
            <a:r>
              <a:rPr sz="1000">
                <a:solidFill>
                  <a:srgbClr val="E8EEF8"/>
                </a:solidFill>
                <a:latin typeface="Microsoft YaHei"/>
              </a:rPr>
              <a:t>/api/audit/business-events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40680"/>
            <a:ext cx="6035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跨用户访问一律 404：审计只给“自己的会话”，不给“别人的证据”。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45720" cy="237744"/>
          </a:xfrm>
          <a:prstGeom prst="rect">
            <a:avLst/>
          </a:prstGeom>
          <a:solidFill>
            <a:srgbClr val="E3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5720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3A33C"/>
                </a:solidFill>
                <a:latin typeface="Microsoft YaHei"/>
              </a:rPr>
              <a:t>工程严谨性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EF8"/>
                </a:solidFill>
                <a:latin typeface="Microsoft YaHei"/>
              </a:rPr>
              <a:t>2,600+ 测试与一份写清楚的边界清单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19088"/>
            <a:ext cx="10817352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银行 AI 智能体底座 · 答辩材料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6492240"/>
            <a:ext cx="1399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3A4BF"/>
                </a:solidFill>
                <a:latin typeface="Microsoft YaHei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78608" cy="132588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361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E3A33C"/>
                </a:solidFill>
                <a:latin typeface="Microsoft YaHei"/>
              </a:rPr>
              <a:t>2,600+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116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EEF8"/>
                </a:solidFill>
                <a:latin typeface="Microsoft YaHei"/>
              </a:rPr>
              <a:t>后端自动化测试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8600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含策略、网关、注入、渠道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17320"/>
            <a:ext cx="2578608" cy="132588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5361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E3A33C"/>
                </a:solidFill>
                <a:latin typeface="Microsoft YaHei"/>
              </a:rPr>
              <a:t>385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0116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EEF8"/>
                </a:solidFill>
                <a:latin typeface="Microsoft YaHei"/>
              </a:rPr>
              <a:t>银行侧测试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28600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67 个接口路径的契约与并发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2578608" cy="132588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5361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E3A33C"/>
                </a:solidFill>
                <a:latin typeface="Microsoft YaHei"/>
              </a:rPr>
              <a:t>473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0116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EEF8"/>
                </a:solidFill>
                <a:latin typeface="Microsoft YaHei"/>
              </a:rPr>
              <a:t>前端测试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28600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会话、卡片、身份同步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417320"/>
            <a:ext cx="2578608" cy="1325880"/>
          </a:xfrm>
          <a:prstGeom prst="roundRect">
            <a:avLst>
              <a:gd name="adj" fmla="val 3500"/>
            </a:avLst>
          </a:prstGeom>
          <a:solidFill>
            <a:srgbClr val="121E31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5361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E3A33C"/>
                </a:solidFill>
                <a:latin typeface="Microsoft YaHei"/>
              </a:rPr>
              <a:t>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01168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8EEF8"/>
                </a:solidFill>
                <a:latin typeface="Microsoft YaHei"/>
              </a:rPr>
              <a:t>全链路 E2E 用例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28600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3A4BF"/>
                </a:solidFill>
                <a:latin typeface="Microsoft YaHei"/>
              </a:rPr>
              <a:t>本机实测 0 缺陷，11 个模块全部通过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17520"/>
            <a:ext cx="5349240" cy="214884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54680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35D0A0"/>
                </a:solidFill>
                <a:latin typeface="Microsoft YaHei"/>
              </a:rPr>
              <a:t>能演示的能力（不是“计划中”）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520440"/>
            <a:ext cx="4892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35D0A0"/>
                </a:solidFill>
                <a:latin typeface="Microsoft YaHei"/>
              </a:rPr>
              <a:t>▪  </a:t>
            </a:r>
            <a:r>
              <a:rPr sz="1050">
                <a:solidFill>
                  <a:srgbClr val="E8EEF8"/>
                </a:solidFill>
                <a:latin typeface="Microsoft YaHei"/>
              </a:rPr>
              <a:t>六个业务场景全部可走通，覆盖赛题要求 ≥ 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35D0A0"/>
                </a:solidFill>
                <a:latin typeface="Microsoft YaHei"/>
              </a:rPr>
              <a:t>▪  </a:t>
            </a:r>
            <a:r>
              <a:rPr sz="1050">
                <a:solidFill>
                  <a:srgbClr val="E8EEF8"/>
                </a:solidFill>
                <a:latin typeface="Microsoft YaHei"/>
              </a:rPr>
              <a:t>真实账号体系：注册即领独享银行客户，多用户隔离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35D0A0"/>
                </a:solidFill>
                <a:latin typeface="Microsoft YaHei"/>
              </a:rPr>
              <a:t>▪  </a:t>
            </a:r>
            <a:r>
              <a:rPr sz="1050">
                <a:solidFill>
                  <a:srgbClr val="E8EEF8"/>
                </a:solidFill>
                <a:latin typeface="Microsoft YaHei"/>
              </a:rPr>
              <a:t>飞书 IM 第二个入口，与 Web 共用同一套业务路径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35D0A0"/>
                </a:solidFill>
                <a:latin typeface="Microsoft YaHei"/>
              </a:rPr>
              <a:t>▪  </a:t>
            </a:r>
            <a:r>
              <a:rPr sz="1050">
                <a:solidFill>
                  <a:srgbClr val="E8EEF8"/>
                </a:solidFill>
                <a:latin typeface="Microsoft YaHei"/>
              </a:rPr>
              <a:t>银行卡交易密码修改：红标 + 独立表单，银行只存哈希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017520"/>
            <a:ext cx="5239512" cy="2148840"/>
          </a:xfrm>
          <a:prstGeom prst="roundRect">
            <a:avLst>
              <a:gd name="adj" fmla="val 3500"/>
            </a:avLst>
          </a:prstGeom>
          <a:solidFill>
            <a:srgbClr val="0F1A2B"/>
          </a:solidFill>
          <a:ln w="9525">
            <a:solidFill>
              <a:srgbClr val="253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154680"/>
            <a:ext cx="4754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3A33C"/>
                </a:solidFill>
                <a:latin typeface="Microsoft YaHei"/>
              </a:rPr>
              <a:t>写清楚的边界（主动声明）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50">
                <a:solidFill>
                  <a:srgbClr val="E8EEF8"/>
                </a:solidFill>
                <a:latin typeface="Microsoft YaHei"/>
              </a:rPr>
              <a:t>单 worker + 进程内锁：不做多实例并发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50">
                <a:solidFill>
                  <a:srgbClr val="E8EEF8"/>
                </a:solidFill>
                <a:latin typeface="Microsoft YaHei"/>
              </a:rPr>
              <a:t>MFA 为模拟因子（默认 123456），未接短信网关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50">
                <a:solidFill>
                  <a:srgbClr val="E8EEF8"/>
                </a:solidFill>
                <a:latin typeface="Microsoft YaHei"/>
              </a:rPr>
              <a:t>沙箱为逻辑隔离（网关 + 临时目录），非容器级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050">
                <a:solidFill>
                  <a:srgbClr val="E3A33C"/>
                </a:solidFill>
                <a:latin typeface="Microsoft YaHei"/>
              </a:rPr>
              <a:t>▪  </a:t>
            </a:r>
            <a:r>
              <a:rPr sz="1050">
                <a:solidFill>
                  <a:srgbClr val="E8EEF8"/>
                </a:solidFill>
                <a:latin typeface="Microsoft YaHei"/>
              </a:rPr>
              <a:t>演示时钟只作控制面，不注册成模型可调工具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验证方式：pytest 全量 + 48 项全链路 E2E + 双账号越权矩阵；报告与复现命令见《测试用例说明》。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3A33C"/>
                </a:solidFill>
                <a:latin typeface="Microsoft YaHei"/>
              </a:rP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6583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E8EEF8"/>
                </a:solidFill>
                <a:latin typeface="Microsoft YaHei"/>
              </a:rPr>
              <a:t>让 AI 说人话，
让代码管钱。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2608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4BF"/>
                </a:solidFill>
                <a:latin typeface="Microsoft YaHei"/>
              </a:rPr>
              <a:t>六个场景、三道防线、一份可回放的审计链——
这是我们认为的“金融级智能体”最低配。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3A33C"/>
                </a:solidFill>
                <a:latin typeface="Microsoft YaHei"/>
              </a:rPr>
              <a:t>6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赛题场景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43434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3A33C"/>
                </a:solidFill>
                <a:latin typeface="Microsoft YaHe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越权资金划扣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3434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3A33C"/>
                </a:solidFill>
                <a:latin typeface="Microsoft Ya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只追加审计表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434340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3A33C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4864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接入渠道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349240"/>
            <a:ext cx="10515600" cy="9525"/>
          </a:xfrm>
          <a:prstGeom prst="rect">
            <a:avLst/>
          </a:prstGeom>
          <a:solidFill>
            <a:srgbClr val="253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3A4BF"/>
                </a:solidFill>
                <a:latin typeface="Microsoft YaHei"/>
              </a:rPr>
              <a:t>下一步：真实短信与硬件因子 · 多实例与分布式锁 · 企业审批流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532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8EEF8"/>
                </a:solidFill>
                <a:latin typeface="Microsoft YaHei"/>
              </a:rPr>
              <a:t>谢谢各位评委，欢迎提问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